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33" autoAdjust="0"/>
    <p:restoredTop sz="94660"/>
  </p:normalViewPr>
  <p:slideViewPr>
    <p:cSldViewPr snapToGrid="0">
      <p:cViewPr>
        <p:scale>
          <a:sx n="66" d="100"/>
          <a:sy n="66" d="100"/>
        </p:scale>
        <p:origin x="54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C8609-02EF-8624-BC35-BFE5FE3C2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04903A-8B59-D452-253B-9EA4B5A0D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E01C22-CFF1-3645-26ED-D36B2A705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2D96AB-447E-2BCE-1EE5-E37F54622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27350E-D0A9-6CC0-2566-8C0BF905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028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B996D-BA1E-6F3E-64B1-24901D40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07666A-54AC-3164-C347-3B947DD1F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FBD49D-C8A8-7BB8-9C23-16B6E108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B27F96-6EEF-F52B-E6E7-3518DD1A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A3B9CE-277C-D921-7518-FEE8F46B0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79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DD7568-B9AC-7627-789D-373D9418C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9DAA7D-9880-465A-428C-B2C37DC42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8B7913-C113-5AA6-F8B2-6690CC57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687E52-FD4D-9828-E711-47127229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31908-F966-3553-7F15-4133478C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12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DC820-626B-C66D-C35C-1BAA7BBA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E89D9A-38C9-CE70-4FEE-3FB0F425B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5634D3-660A-73EB-46B3-D855FE87F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E54E2B-E7E4-AF53-3783-0F013DC5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9B6B36-A334-0B63-4D2D-B923BC89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349C36-9C40-0C67-7475-2640665D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24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756EEB-DC58-F23F-9157-B42CC7F7B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DB5071-E005-0A5F-DC5D-A76CB1674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8D179D4-90A4-4609-3D9C-6532D09AA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81DD7B-3742-8823-D244-C28BA785F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BB7D7A-8532-1B43-DD07-EFB2DAB18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E5678F5-6622-A497-71E2-E2023EA01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9CFE6B9-3E1B-C8AA-1421-BEE672F40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DF72C8-17D5-B2C9-E89D-31C809C3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472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AA3B37-F1F4-7F03-5017-93506B13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961B533-35CB-CB5A-0C7D-D132380B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42356A-BD62-A440-9823-E9B89FC7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89DE96-958B-B45A-C1F0-E91961A1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272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6A669B6-17B0-D1D7-42B6-8AD4B722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47D635-EC93-C55E-8486-77F40E6F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4C57D2-9EF6-EC9D-ECA9-F4A5027E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2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C27BD-BC58-4263-D69F-736F6660B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FB1320-1CD4-F56B-139B-BB814393F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9A5E63-E565-A612-2A67-551042FC2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72C952-3982-CBA9-D520-DFA692C80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CA73D0-2156-4C84-BBBD-685BD038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6F5263-4E64-AD4B-0E76-2217F35BF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535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EE5B0-E3BE-7C56-3A0A-08898A0A4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2FFB5BC-2F01-0B94-5D4D-172891CCE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7826BE-9E48-E781-5D36-423284397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D8B079-EE16-C680-4F52-6D85DB63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5857FD-5A26-E886-140F-6E3036F2A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16B7F0-1E75-BA59-9FE1-C0C056E8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83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7A373-E565-7CF3-BBC1-83ADF969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EB7B134-F1F7-E046-20CE-66150CE00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197AC7-04A9-C8F6-5C0B-0AD5C078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F50F5D-5CDF-9A09-2608-FE042DAF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291554-425E-6CE6-6D9A-ADE1767A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1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8C4F703-5773-5B45-E096-DF138E6DB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9BD0EBE-2941-1C2A-23CD-AEE6DE05A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3ABDDB-A6F7-08A0-95D5-9F9B5FDF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9F71DE-1B53-A4CE-0053-ECCBFE7EE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84D42C-296A-2A02-EF14-E8A186B4D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39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1AF46-FFDB-3354-3CF1-034275373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76BA78-2C42-0E88-2192-441043D82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375130-46F9-A2F0-496E-37CFD6E0B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FE281-AA5B-40EF-A962-EBD6B6FFCD01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A31130-5248-CDA4-2B55-002FE8FDF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40E2E4-FBD6-560A-1805-0912600CD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A239D-1BE2-4D1B-B89C-F5172619FC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52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5E2ACC1-3564-4CA1-B013-382EDCDEB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615" y="-568960"/>
            <a:ext cx="12931491" cy="862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44704E-3BB4-C6E7-F044-BF5403E9C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35280" y="4378960"/>
            <a:ext cx="12435840" cy="1148080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Природные богатства России:  Земельные ресурсы</a:t>
            </a:r>
          </a:p>
        </p:txBody>
      </p:sp>
    </p:spTree>
    <p:extLst>
      <p:ext uri="{BB962C8B-B14F-4D97-AF65-F5344CB8AC3E}">
        <p14:creationId xmlns:p14="http://schemas.microsoft.com/office/powerpoint/2010/main" val="389239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DB7342A5-05AD-478C-AA1E-6B9D1002B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7000"/>
                    </a14:imgEffect>
                    <a14:imgEffect>
                      <a14:brightnessContrast bright="-47000" contras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25120" y="180321"/>
            <a:ext cx="12608560" cy="840045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E0138E-FBBC-C01C-D2F9-66C64B2A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" y="476885"/>
            <a:ext cx="7106920" cy="661035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Площадь России - </a:t>
            </a:r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1 713 млн га</a:t>
            </a:r>
            <a:endParaRPr lang="ru-RU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C693F9-6472-1C77-5441-D16CCF915371}"/>
              </a:ext>
            </a:extLst>
          </p:cNvPr>
          <p:cNvSpPr txBox="1"/>
          <p:nvPr/>
        </p:nvSpPr>
        <p:spPr>
          <a:xfrm>
            <a:off x="208280" y="1688485"/>
            <a:ext cx="8641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В России </a:t>
            </a:r>
            <a:r>
              <a:rPr lang="ru-RU" sz="2400" b="1" i="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до 550 миллионов гектаров – площадь плодородных земель</a:t>
            </a:r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D71F3-9846-590C-3286-E63037E2FCBE}"/>
              </a:ext>
            </a:extLst>
          </p:cNvPr>
          <p:cNvSpPr txBox="1"/>
          <p:nvPr/>
        </p:nvSpPr>
        <p:spPr>
          <a:xfrm>
            <a:off x="208280" y="2810888"/>
            <a:ext cx="76174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solidFill>
                  <a:schemeClr val="bg1">
                    <a:lumMod val="95000"/>
                  </a:schemeClr>
                </a:solidFill>
                <a:effectLst/>
                <a:latin typeface="Arial Black" panose="020B0A04020102020204" pitchFamily="34" charset="0"/>
              </a:rPr>
              <a:t>Для сравнения: 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В Беларуси - </a:t>
            </a:r>
            <a:r>
              <a:rPr lang="ru-RU" sz="2400" b="1" i="0" dirty="0">
                <a:solidFill>
                  <a:schemeClr val="bg1">
                    <a:lumMod val="95000"/>
                  </a:schemeClr>
                </a:solidFill>
                <a:effectLst/>
                <a:latin typeface="Arial Black" panose="020B0A04020102020204" pitchFamily="34" charset="0"/>
              </a:rPr>
              <a:t>около 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20,8 млн га</a:t>
            </a:r>
          </a:p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В Украине 27,8 млн га</a:t>
            </a:r>
          </a:p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В США до 470 млн га</a:t>
            </a:r>
          </a:p>
        </p:txBody>
      </p:sp>
    </p:spTree>
    <p:extLst>
      <p:ext uri="{BB962C8B-B14F-4D97-AF65-F5344CB8AC3E}">
        <p14:creationId xmlns:p14="http://schemas.microsoft.com/office/powerpoint/2010/main" val="388551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681DFB-E4D4-B446-C12E-6FEE348C5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1F873EA-8B20-6412-0435-B15974393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6000" contrast="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96666" y="-396239"/>
            <a:ext cx="14253350" cy="79017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7D8598-422D-91F6-E0A0-CA9657BD0D70}"/>
              </a:ext>
            </a:extLst>
          </p:cNvPr>
          <p:cNvSpPr txBox="1"/>
          <p:nvPr/>
        </p:nvSpPr>
        <p:spPr>
          <a:xfrm>
            <a:off x="590309" y="782747"/>
            <a:ext cx="9550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Основные сельскохозяйственные районы: Центральная и Центрально-Чернозёмная Россия, Северный Кавказ, юг России, Поволжье, Юг Урала и юг Западной Сибири </a:t>
            </a:r>
          </a:p>
        </p:txBody>
      </p:sp>
    </p:spTree>
    <p:extLst>
      <p:ext uri="{BB962C8B-B14F-4D97-AF65-F5344CB8AC3E}">
        <p14:creationId xmlns:p14="http://schemas.microsoft.com/office/powerpoint/2010/main" val="35256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6E1F4-93D7-3F55-907E-9531F76CF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BBB968A-57A3-0D15-86CA-F31F9CFFC6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20040" y="-4654232"/>
            <a:ext cx="12689840" cy="12689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C63CE-0D57-AED3-6CB1-EAE92678C73B}"/>
              </a:ext>
            </a:extLst>
          </p:cNvPr>
          <p:cNvSpPr txBox="1"/>
          <p:nvPr/>
        </p:nvSpPr>
        <p:spPr>
          <a:xfrm>
            <a:off x="462280" y="610136"/>
            <a:ext cx="1190752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Природно-климатические факторы:</a:t>
            </a:r>
          </a:p>
          <a:p>
            <a:endParaRPr lang="ru-RU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Температура и продолжительность тёплого периода определяют возможность выращивания различных культур.</a:t>
            </a:r>
          </a:p>
          <a:p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Количество осадков и уровень увлажнения влияют на урожайность и необходимость орошения.</a:t>
            </a:r>
          </a:p>
          <a:p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Рельеф территории определяет возможности механизированной обработки земель и риск эрозии.</a:t>
            </a:r>
          </a:p>
          <a:p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Обеспеченность водой важна для растениеводства и животноводства.</a:t>
            </a:r>
          </a:p>
          <a:p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Основные природные риски: засухи, суховеи, заморозки, переувлажнение и короткий вегетационный период.</a:t>
            </a:r>
          </a:p>
        </p:txBody>
      </p:sp>
    </p:spTree>
    <p:extLst>
      <p:ext uri="{BB962C8B-B14F-4D97-AF65-F5344CB8AC3E}">
        <p14:creationId xmlns:p14="http://schemas.microsoft.com/office/powerpoint/2010/main" val="87086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D763EE-5D1A-5306-6E60-CAA489601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30791A7F-5CFF-F111-5148-8E84A53225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9880" y="-732341"/>
            <a:ext cx="12501880" cy="832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7CBD66-F267-545C-2995-438461BAD390}"/>
              </a:ext>
            </a:extLst>
          </p:cNvPr>
          <p:cNvSpPr txBox="1"/>
          <p:nvPr/>
        </p:nvSpPr>
        <p:spPr>
          <a:xfrm>
            <a:off x="401320" y="790037"/>
            <a:ext cx="10952480" cy="5068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Растениеводство: пшеница, ячмень, рожь, кукуруза, подсолнечник, сахарная свёкла, картофель и овощи. 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Животноводство включает разведение крупного рогатого скота, свиноводство, птицеводство и овцеводство.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endParaRPr lang="ru-RU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Развитие животноводства тесно связано с кормовой базой и природными условиями.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endParaRPr lang="ru-RU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66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C3C094-2794-8721-A8FD-1198B6B3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7DBD62D-6267-8896-77B1-611B1875B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833121"/>
            <a:ext cx="12371714" cy="7888005"/>
          </a:xfrm>
          <a:prstGeom prst="rect">
            <a:avLst/>
          </a:prstGeom>
        </p:spPr>
      </p:pic>
      <p:sp>
        <p:nvSpPr>
          <p:cNvPr id="4" name="AutoShape 2" descr="Picture background">
            <a:extLst>
              <a:ext uri="{FF2B5EF4-FFF2-40B4-BE49-F238E27FC236}">
                <a16:creationId xmlns:a16="http://schemas.microsoft.com/office/drawing/2014/main" id="{3522A93E-E292-6CDA-17C5-2D9926471D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32480" y="665480"/>
            <a:ext cx="2915920" cy="291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06EC6-541F-732B-7D8C-9EAB6C1A5288}"/>
              </a:ext>
            </a:extLst>
          </p:cNvPr>
          <p:cNvSpPr txBox="1"/>
          <p:nvPr/>
        </p:nvSpPr>
        <p:spPr>
          <a:xfrm>
            <a:off x="1025399" y="0"/>
            <a:ext cx="11166601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Проблемы использования земельных ресурсов</a:t>
            </a:r>
          </a:p>
          <a:p>
            <a:endParaRPr lang="ru-RU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- Деградация почв при неправильном использовании</a:t>
            </a:r>
          </a:p>
          <a:p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- Эрозия </a:t>
            </a:r>
          </a:p>
          <a:p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- Засоление и заболачивание </a:t>
            </a:r>
          </a:p>
          <a:p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- Загрязнение почв.</a:t>
            </a:r>
          </a:p>
          <a:p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- Изменение климата </a:t>
            </a:r>
          </a:p>
          <a:p>
            <a:endParaRPr lang="ru-RU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Возможные решения: севооборот, защита почв, мелиорация, восстановление плодородия и современные технологии.</a:t>
            </a:r>
          </a:p>
        </p:txBody>
      </p:sp>
    </p:spTree>
    <p:extLst>
      <p:ext uri="{BB962C8B-B14F-4D97-AF65-F5344CB8AC3E}">
        <p14:creationId xmlns:p14="http://schemas.microsoft.com/office/powerpoint/2010/main" val="1978463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DDBB7-2BC7-95B5-E914-2CC7C684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55D626A-E8E1-01B6-06E8-307C54416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89367" y="-94698"/>
            <a:ext cx="12732152" cy="81672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170111-97C0-5C13-CA23-858D9C1876C7}"/>
              </a:ext>
            </a:extLst>
          </p:cNvPr>
          <p:cNvSpPr txBox="1"/>
          <p:nvPr/>
        </p:nvSpPr>
        <p:spPr>
          <a:xfrm>
            <a:off x="838200" y="838604"/>
            <a:ext cx="10081549" cy="575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Экономические проблемы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Высокая стоимость кредитования для капиталоёмкого сельского хозяйства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- Снижение рентабельности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- Рост цен на ресурсы (удобрения, семена, топливо) 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- Экспортные ограничения и нестабильность экспортных пошлин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Неравномерное распределение господдержки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Устаревшая техника и оборудование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Дефицит специалистов</a:t>
            </a:r>
          </a:p>
        </p:txBody>
      </p:sp>
    </p:spTree>
    <p:extLst>
      <p:ext uri="{BB962C8B-B14F-4D97-AF65-F5344CB8AC3E}">
        <p14:creationId xmlns:p14="http://schemas.microsoft.com/office/powerpoint/2010/main" val="29820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4EF3C-40D3-702E-B925-50A6B3FD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7B0AFA-0C7E-A250-3206-63434EF0F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73D0762-DE6F-33F9-8E46-091537ACE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0391" y="-807485"/>
            <a:ext cx="13137266" cy="818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00DCC7-E78D-0306-5002-7E537FC80039}"/>
              </a:ext>
            </a:extLst>
          </p:cNvPr>
          <p:cNvSpPr txBox="1"/>
          <p:nvPr/>
        </p:nvSpPr>
        <p:spPr>
          <a:xfrm>
            <a:off x="717632" y="1027906"/>
            <a:ext cx="8194876" cy="520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Перспективы развития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Внедрение новых технологий, автоматизации.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Восстановление плодородия и возвращение части заброшенных земель в сельскохозяйственный оборот.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Развитие технологий, позволяющих получать высокие урожаи при меньшем воздействии на почву.</a:t>
            </a:r>
          </a:p>
        </p:txBody>
      </p:sp>
    </p:spTree>
    <p:extLst>
      <p:ext uri="{BB962C8B-B14F-4D97-AF65-F5344CB8AC3E}">
        <p14:creationId xmlns:p14="http://schemas.microsoft.com/office/powerpoint/2010/main" val="1523759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D54589-17B9-8999-DBB6-09153D7E8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5EEEAFC-846F-3F70-00CD-30873043C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755794" y="-185195"/>
            <a:ext cx="13098265" cy="74847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1F733E-97A6-DC6D-16E7-C0EB5076C667}"/>
              </a:ext>
            </a:extLst>
          </p:cNvPr>
          <p:cNvSpPr txBox="1"/>
          <p:nvPr/>
        </p:nvSpPr>
        <p:spPr>
          <a:xfrm>
            <a:off x="285990" y="733350"/>
            <a:ext cx="11620019" cy="575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Заключение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Огромная территория России создаёт большие возможности для развития сельского хозяйства.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Природные условия распределены неравномерно, поэтому сельскохозяйственная специализация регионов различается.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Земля — стратегически важный природный ресурс, который необходимо использовать рационально.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Сохранение плодородия почв и внедрение современных технологий — ключевые условия устойчивого развития сельского хозяйства.</a:t>
            </a:r>
          </a:p>
        </p:txBody>
      </p:sp>
    </p:spTree>
    <p:extLst>
      <p:ext uri="{BB962C8B-B14F-4D97-AF65-F5344CB8AC3E}">
        <p14:creationId xmlns:p14="http://schemas.microsoft.com/office/powerpoint/2010/main" val="364518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4728EE-7217-4D42-CAAB-19E6325C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396C041-34A5-C156-AF5B-19143A008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023" y="-203217"/>
            <a:ext cx="12489084" cy="726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070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332</Words>
  <Application>Microsoft Office PowerPoint</Application>
  <PresentationFormat>Широкоэкранный</PresentationFormat>
  <Paragraphs>51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Площадь России - 1 713 млн га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Fomin</dc:creator>
  <cp:lastModifiedBy>Nikita Fomin</cp:lastModifiedBy>
  <cp:revision>1</cp:revision>
  <dcterms:created xsi:type="dcterms:W3CDTF">2026-10-06T19:35:43Z</dcterms:created>
  <dcterms:modified xsi:type="dcterms:W3CDTF">2026-10-06T21:08:12Z</dcterms:modified>
</cp:coreProperties>
</file>